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0" autoAdjust="0"/>
    <p:restoredTop sz="86405" autoAdjust="0"/>
  </p:normalViewPr>
  <p:slideViewPr>
    <p:cSldViewPr snapToGrid="0" snapToObjects="1">
      <p:cViewPr varScale="1">
        <p:scale>
          <a:sx n="71" d="100"/>
          <a:sy n="71" d="100"/>
        </p:scale>
        <p:origin x="1205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12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84187"/>
            <a:ext cx="7772400" cy="1470025"/>
          </a:xfrm>
        </p:spPr>
        <p:txBody>
          <a:bodyPr/>
          <a:lstStyle/>
          <a:p>
            <a:r>
              <a:rPr lang="it-IT" dirty="0"/>
              <a:t>Un agente AI per l’orientamento post diploma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116" y="3748547"/>
            <a:ext cx="8367252" cy="2367117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chemeClr val="tx1"/>
                </a:solidFill>
              </a:rPr>
              <a:t>Architettura </a:t>
            </a:r>
            <a:r>
              <a:rPr lang="it-IT" dirty="0" err="1">
                <a:solidFill>
                  <a:schemeClr val="tx1"/>
                </a:solidFill>
              </a:rPr>
              <a:t>Agentica</a:t>
            </a:r>
            <a:r>
              <a:rPr lang="it-IT" dirty="0">
                <a:solidFill>
                  <a:schemeClr val="tx1"/>
                </a:solidFill>
              </a:rPr>
              <a:t> basata sul libro </a:t>
            </a:r>
          </a:p>
          <a:p>
            <a:r>
              <a:rPr lang="it-IT" dirty="0">
                <a:solidFill>
                  <a:schemeClr val="tx1"/>
                </a:solidFill>
              </a:rPr>
              <a:t>‘AI Engineering’ di Chip </a:t>
            </a:r>
            <a:r>
              <a:rPr lang="it-IT" dirty="0" err="1">
                <a:solidFill>
                  <a:schemeClr val="tx1"/>
                </a:solidFill>
              </a:rPr>
              <a:t>Huyen</a:t>
            </a:r>
            <a:endParaRPr lang="it-IT" dirty="0">
              <a:solidFill>
                <a:schemeClr val="tx1"/>
              </a:solidFill>
            </a:endParaRPr>
          </a:p>
          <a:p>
            <a:endParaRPr lang="it-IT" dirty="0">
              <a:solidFill>
                <a:schemeClr val="tx1"/>
              </a:solidFill>
            </a:endParaRPr>
          </a:p>
          <a:p>
            <a:r>
              <a:rPr lang="it-IT" dirty="0">
                <a:solidFill>
                  <a:schemeClr val="tx1"/>
                </a:solidFill>
              </a:rPr>
              <a:t>Sviluppo con </a:t>
            </a:r>
            <a:r>
              <a:rPr lang="it-IT" dirty="0" err="1">
                <a:solidFill>
                  <a:schemeClr val="tx1"/>
                </a:solidFill>
              </a:rPr>
              <a:t>LangGraph</a:t>
            </a:r>
            <a:r>
              <a:rPr lang="it-IT" dirty="0">
                <a:solidFill>
                  <a:schemeClr val="tx1"/>
                </a:solidFill>
              </a:rPr>
              <a:t>, </a:t>
            </a:r>
            <a:r>
              <a:rPr lang="it-IT" dirty="0" err="1">
                <a:solidFill>
                  <a:schemeClr val="tx1"/>
                </a:solidFill>
              </a:rPr>
              <a:t>Groq</a:t>
            </a:r>
            <a:r>
              <a:rPr lang="it-IT" dirty="0">
                <a:solidFill>
                  <a:schemeClr val="tx1"/>
                </a:solidFill>
              </a:rPr>
              <a:t> e </a:t>
            </a:r>
            <a:r>
              <a:rPr lang="it-IT" dirty="0" err="1">
                <a:solidFill>
                  <a:schemeClr val="tx1"/>
                </a:solidFill>
              </a:rPr>
              <a:t>FastAPI</a:t>
            </a:r>
            <a:endParaRPr lang="it-IT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Il </a:t>
            </a:r>
            <a:r>
              <a:rPr dirty="0" err="1"/>
              <a:t>Problema</a:t>
            </a:r>
            <a:r>
              <a:rPr dirty="0"/>
              <a:t>: </a:t>
            </a:r>
            <a:r>
              <a:rPr dirty="0" err="1"/>
              <a:t>Limiti</a:t>
            </a:r>
            <a:r>
              <a:rPr dirty="0"/>
              <a:t> </a:t>
            </a:r>
            <a:r>
              <a:rPr dirty="0" err="1"/>
              <a:t>dei</a:t>
            </a:r>
            <a:r>
              <a:rPr dirty="0"/>
              <a:t>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spcAft>
                <a:spcPts val="1000"/>
              </a:spcAft>
              <a:defRPr sz="1600"/>
            </a:pPr>
            <a:r>
              <a:rPr sz="3000" dirty="0"/>
              <a:t>Staleness </a:t>
            </a:r>
            <a:r>
              <a:rPr sz="3000" dirty="0" err="1"/>
              <a:t>Informativa</a:t>
            </a:r>
            <a:r>
              <a:rPr sz="3000" dirty="0"/>
              <a:t>: La </a:t>
            </a:r>
            <a:r>
              <a:rPr sz="3000" dirty="0" err="1"/>
              <a:t>conoscenza</a:t>
            </a:r>
            <a:r>
              <a:rPr sz="3000" dirty="0"/>
              <a:t> degli LLM è </a:t>
            </a:r>
            <a:r>
              <a:rPr sz="3000" dirty="0" err="1"/>
              <a:t>ferma</a:t>
            </a:r>
            <a:r>
              <a:rPr sz="3000" dirty="0"/>
              <a:t> alla data di fine </a:t>
            </a:r>
            <a:r>
              <a:rPr sz="3000" dirty="0" err="1"/>
              <a:t>addestramento</a:t>
            </a:r>
            <a:r>
              <a:rPr sz="3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 err="1"/>
              <a:t>Incapacità</a:t>
            </a:r>
            <a:r>
              <a:rPr sz="3000" dirty="0"/>
              <a:t> di aggiornamento: Un </a:t>
            </a:r>
            <a:r>
              <a:rPr sz="3000" dirty="0" err="1"/>
              <a:t>modello</a:t>
            </a:r>
            <a:r>
              <a:rPr sz="3000" dirty="0"/>
              <a:t> standard non </a:t>
            </a:r>
            <a:r>
              <a:rPr sz="3000" dirty="0" err="1"/>
              <a:t>sa</a:t>
            </a:r>
            <a:r>
              <a:rPr sz="3000" dirty="0"/>
              <a:t> </a:t>
            </a:r>
            <a:r>
              <a:rPr sz="3000" dirty="0" err="1"/>
              <a:t>quali</a:t>
            </a:r>
            <a:r>
              <a:rPr sz="3000" dirty="0"/>
              <a:t> </a:t>
            </a:r>
            <a:r>
              <a:rPr sz="3000" dirty="0" err="1"/>
              <a:t>bandi</a:t>
            </a:r>
            <a:r>
              <a:rPr sz="3000" dirty="0"/>
              <a:t> </a:t>
            </a:r>
            <a:r>
              <a:rPr sz="3000" dirty="0" err="1"/>
              <a:t>sono</a:t>
            </a:r>
            <a:r>
              <a:rPr sz="3000" dirty="0"/>
              <a:t> </a:t>
            </a:r>
            <a:r>
              <a:rPr sz="3000" dirty="0" err="1"/>
              <a:t>aperti</a:t>
            </a:r>
            <a:r>
              <a:rPr sz="3000" dirty="0"/>
              <a:t> </a:t>
            </a:r>
            <a:r>
              <a:rPr sz="3000" dirty="0" err="1"/>
              <a:t>oggi</a:t>
            </a:r>
            <a:r>
              <a:rPr sz="3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 err="1"/>
              <a:t>Allucinazioni</a:t>
            </a:r>
            <a:r>
              <a:rPr sz="3000" dirty="0"/>
              <a:t>: </a:t>
            </a:r>
            <a:r>
              <a:rPr sz="3000" dirty="0" err="1"/>
              <a:t>Tendenza</a:t>
            </a:r>
            <a:r>
              <a:rPr sz="3000" dirty="0"/>
              <a:t> del </a:t>
            </a:r>
            <a:r>
              <a:rPr sz="3000" dirty="0" err="1"/>
              <a:t>modello</a:t>
            </a:r>
            <a:r>
              <a:rPr sz="3000" dirty="0"/>
              <a:t> a </a:t>
            </a:r>
            <a:r>
              <a:rPr sz="3000" dirty="0" err="1"/>
              <a:t>inventare</a:t>
            </a:r>
            <a:r>
              <a:rPr sz="3000" dirty="0"/>
              <a:t> link o </a:t>
            </a:r>
            <a:r>
              <a:rPr sz="3000" dirty="0" err="1"/>
              <a:t>requisiti</a:t>
            </a:r>
            <a:r>
              <a:rPr sz="3000" dirty="0"/>
              <a:t> non </a:t>
            </a:r>
            <a:r>
              <a:rPr sz="3000" dirty="0" err="1"/>
              <a:t>esistenti</a:t>
            </a:r>
            <a:r>
              <a:rPr sz="30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Il </a:t>
            </a:r>
            <a:r>
              <a:rPr dirty="0" err="1"/>
              <a:t>Problema</a:t>
            </a:r>
            <a:r>
              <a:rPr dirty="0"/>
              <a:t>: </a:t>
            </a:r>
            <a:r>
              <a:rPr dirty="0" err="1"/>
              <a:t>Limiti</a:t>
            </a:r>
            <a:r>
              <a:rPr dirty="0"/>
              <a:t> del RAG </a:t>
            </a:r>
            <a:r>
              <a:rPr dirty="0" err="1"/>
              <a:t>Statico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spcAft>
                <a:spcPts val="1000"/>
              </a:spcAft>
              <a:defRPr sz="1600"/>
            </a:pPr>
            <a:r>
              <a:rPr sz="3000" dirty="0" err="1"/>
              <a:t>Manutenzione</a:t>
            </a:r>
            <a:r>
              <a:rPr sz="3000" dirty="0"/>
              <a:t>: </a:t>
            </a:r>
            <a:r>
              <a:rPr sz="3000" dirty="0" err="1"/>
              <a:t>Aggiornare</a:t>
            </a:r>
            <a:r>
              <a:rPr sz="3000" dirty="0"/>
              <a:t> un database di </a:t>
            </a:r>
            <a:r>
              <a:rPr sz="3000" dirty="0" err="1"/>
              <a:t>migliaia</a:t>
            </a:r>
            <a:r>
              <a:rPr sz="3000" dirty="0"/>
              <a:t> di </a:t>
            </a:r>
            <a:r>
              <a:rPr sz="3000" dirty="0" err="1"/>
              <a:t>corsi</a:t>
            </a:r>
            <a:r>
              <a:rPr sz="3000" dirty="0"/>
              <a:t> è </a:t>
            </a:r>
            <a:r>
              <a:rPr sz="3000" dirty="0" err="1"/>
              <a:t>costoso</a:t>
            </a:r>
            <a:r>
              <a:rPr sz="3000" dirty="0"/>
              <a:t> e lento.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 err="1"/>
              <a:t>Mancanza</a:t>
            </a:r>
            <a:r>
              <a:rPr sz="3000" dirty="0"/>
              <a:t> di </a:t>
            </a:r>
            <a:r>
              <a:rPr sz="3000" dirty="0" err="1"/>
              <a:t>verifica</a:t>
            </a:r>
            <a:r>
              <a:rPr sz="3000" dirty="0"/>
              <a:t>: Il RAG </a:t>
            </a:r>
            <a:r>
              <a:rPr sz="3000" dirty="0" err="1"/>
              <a:t>recupera</a:t>
            </a:r>
            <a:r>
              <a:rPr sz="3000" dirty="0"/>
              <a:t> </a:t>
            </a:r>
            <a:r>
              <a:rPr sz="3000" dirty="0" err="1"/>
              <a:t>documenti</a:t>
            </a:r>
            <a:r>
              <a:rPr sz="3000" dirty="0"/>
              <a:t> ma non </a:t>
            </a:r>
            <a:r>
              <a:rPr sz="3000" dirty="0" err="1"/>
              <a:t>può</a:t>
            </a:r>
            <a:r>
              <a:rPr sz="3000" dirty="0"/>
              <a:t> </a:t>
            </a:r>
            <a:r>
              <a:rPr sz="3000" dirty="0" err="1"/>
              <a:t>verificare</a:t>
            </a:r>
            <a:r>
              <a:rPr sz="3000" dirty="0"/>
              <a:t> se un </a:t>
            </a:r>
            <a:r>
              <a:rPr sz="3000" dirty="0" err="1"/>
              <a:t>sito</a:t>
            </a:r>
            <a:r>
              <a:rPr sz="3000" dirty="0"/>
              <a:t> è </a:t>
            </a:r>
            <a:r>
              <a:rPr sz="3000" dirty="0" err="1"/>
              <a:t>attivo</a:t>
            </a:r>
            <a:r>
              <a:rPr sz="3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 err="1"/>
              <a:t>Obiettivo</a:t>
            </a:r>
            <a:r>
              <a:rPr sz="3000" dirty="0"/>
              <a:t>: </a:t>
            </a:r>
            <a:r>
              <a:rPr sz="3000" dirty="0" err="1"/>
              <a:t>Creare</a:t>
            </a:r>
            <a:r>
              <a:rPr sz="3000" dirty="0"/>
              <a:t> un </a:t>
            </a:r>
            <a:r>
              <a:rPr sz="3000" dirty="0" err="1"/>
              <a:t>agente</a:t>
            </a:r>
            <a:r>
              <a:rPr sz="3000" dirty="0"/>
              <a:t> </a:t>
            </a:r>
            <a:r>
              <a:rPr sz="3000" dirty="0" err="1"/>
              <a:t>capace</a:t>
            </a:r>
            <a:r>
              <a:rPr sz="3000" dirty="0"/>
              <a:t> di </a:t>
            </a:r>
            <a:r>
              <a:rPr sz="3000" dirty="0" err="1"/>
              <a:t>agire</a:t>
            </a:r>
            <a:r>
              <a:rPr sz="3000" dirty="0"/>
              <a:t> </a:t>
            </a:r>
            <a:r>
              <a:rPr sz="3000" dirty="0" err="1"/>
              <a:t>nel</a:t>
            </a:r>
            <a:r>
              <a:rPr sz="3000" dirty="0"/>
              <a:t> mondo </a:t>
            </a:r>
            <a:r>
              <a:rPr sz="3000" dirty="0" err="1"/>
              <a:t>reale</a:t>
            </a:r>
            <a:r>
              <a:rPr sz="3000" dirty="0"/>
              <a:t> (Web).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Scelte</a:t>
            </a:r>
            <a:r>
              <a:rPr dirty="0"/>
              <a:t> </a:t>
            </a:r>
            <a:r>
              <a:rPr dirty="0" err="1"/>
              <a:t>Progettuali</a:t>
            </a:r>
            <a:r>
              <a:rPr dirty="0"/>
              <a:t>: </a:t>
            </a:r>
            <a:r>
              <a:rPr dirty="0" err="1"/>
              <a:t>Architettura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spcAft>
                <a:spcPts val="1000"/>
              </a:spcAft>
              <a:defRPr sz="1600"/>
            </a:pPr>
            <a:r>
              <a:rPr sz="3000" dirty="0" err="1"/>
              <a:t>Paradigma</a:t>
            </a:r>
            <a:r>
              <a:rPr sz="3000" dirty="0"/>
              <a:t> </a:t>
            </a:r>
            <a:r>
              <a:rPr sz="3000" dirty="0" err="1"/>
              <a:t>Agentico</a:t>
            </a:r>
            <a:r>
              <a:rPr sz="3000" dirty="0"/>
              <a:t>: </a:t>
            </a:r>
            <a:r>
              <a:rPr sz="3000" dirty="0" err="1"/>
              <a:t>Scomposizione</a:t>
            </a:r>
            <a:r>
              <a:rPr sz="3000" dirty="0"/>
              <a:t> in Planning ed Execution.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/>
              <a:t>Real-time Web Search: Uso del web come memoria </a:t>
            </a:r>
            <a:r>
              <a:rPr sz="3000" dirty="0" err="1"/>
              <a:t>esterna</a:t>
            </a:r>
            <a:r>
              <a:rPr sz="3000" dirty="0"/>
              <a:t> </a:t>
            </a:r>
            <a:r>
              <a:rPr sz="3000" dirty="0" err="1"/>
              <a:t>dinamica</a:t>
            </a:r>
            <a:r>
              <a:rPr sz="3000" dirty="0"/>
              <a:t> (Huyen, </a:t>
            </a:r>
            <a:r>
              <a:rPr sz="3000" dirty="0" err="1"/>
              <a:t>pag</a:t>
            </a:r>
            <a:r>
              <a:rPr sz="3000" dirty="0"/>
              <a:t>. 279).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 err="1"/>
              <a:t>Integrità</a:t>
            </a:r>
            <a:r>
              <a:rPr sz="3000" dirty="0"/>
              <a:t> </a:t>
            </a:r>
            <a:r>
              <a:rPr sz="3000" dirty="0" err="1"/>
              <a:t>Strutturata</a:t>
            </a:r>
            <a:r>
              <a:rPr sz="3000" dirty="0"/>
              <a:t>: </a:t>
            </a:r>
            <a:r>
              <a:rPr sz="3000" dirty="0" err="1"/>
              <a:t>Gestione</a:t>
            </a:r>
            <a:r>
              <a:rPr sz="3000" dirty="0"/>
              <a:t> </a:t>
            </a:r>
            <a:r>
              <a:rPr sz="3000" dirty="0" err="1"/>
              <a:t>dello</a:t>
            </a:r>
            <a:r>
              <a:rPr sz="3000" dirty="0"/>
              <a:t> </a:t>
            </a:r>
            <a:r>
              <a:rPr sz="3000" dirty="0" err="1"/>
              <a:t>stato</a:t>
            </a:r>
            <a:r>
              <a:rPr sz="3000" dirty="0"/>
              <a:t> </a:t>
            </a:r>
            <a:r>
              <a:rPr sz="3000" dirty="0" err="1"/>
              <a:t>tramite</a:t>
            </a:r>
            <a:r>
              <a:rPr sz="3000" dirty="0"/>
              <a:t> </a:t>
            </a:r>
            <a:r>
              <a:rPr sz="3000" dirty="0" err="1"/>
              <a:t>Pydantic</a:t>
            </a:r>
            <a:r>
              <a:rPr sz="3000" dirty="0"/>
              <a:t> V2.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Scelte</a:t>
            </a:r>
            <a:r>
              <a:rPr dirty="0"/>
              <a:t> </a:t>
            </a:r>
            <a:r>
              <a:rPr dirty="0" err="1"/>
              <a:t>Progettuali</a:t>
            </a:r>
            <a:r>
              <a:rPr dirty="0"/>
              <a:t>: </a:t>
            </a:r>
            <a:r>
              <a:rPr dirty="0" err="1"/>
              <a:t>Affidabilità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spcAft>
                <a:spcPts val="1000"/>
              </a:spcAft>
              <a:defRPr sz="1600"/>
            </a:pPr>
            <a:r>
              <a:rPr sz="3000" dirty="0"/>
              <a:t>Memory Management: Stato </a:t>
            </a:r>
            <a:r>
              <a:rPr sz="3000" dirty="0" err="1"/>
              <a:t>persistente</a:t>
            </a:r>
            <a:r>
              <a:rPr sz="3000" dirty="0"/>
              <a:t> </a:t>
            </a:r>
            <a:r>
              <a:rPr sz="3000" dirty="0" err="1"/>
              <a:t>che</a:t>
            </a:r>
            <a:r>
              <a:rPr sz="3000" dirty="0"/>
              <a:t> non </a:t>
            </a:r>
            <a:r>
              <a:rPr sz="3000" dirty="0" err="1"/>
              <a:t>perde</a:t>
            </a:r>
            <a:r>
              <a:rPr sz="3000" dirty="0"/>
              <a:t> </a:t>
            </a:r>
            <a:r>
              <a:rPr sz="3000" dirty="0" err="1"/>
              <a:t>dati</a:t>
            </a:r>
            <a:r>
              <a:rPr sz="3000" dirty="0"/>
              <a:t> </a:t>
            </a:r>
            <a:r>
              <a:rPr sz="3000" dirty="0" err="1"/>
              <a:t>tra</a:t>
            </a:r>
            <a:r>
              <a:rPr sz="3000" dirty="0"/>
              <a:t> </a:t>
            </a:r>
            <a:r>
              <a:rPr sz="3000" dirty="0" err="1"/>
              <a:t>i</a:t>
            </a:r>
            <a:r>
              <a:rPr sz="3000" dirty="0"/>
              <a:t> </a:t>
            </a:r>
            <a:r>
              <a:rPr sz="3000" dirty="0" err="1"/>
              <a:t>messaggi</a:t>
            </a:r>
            <a:r>
              <a:rPr sz="3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 err="1"/>
              <a:t>ReAct</a:t>
            </a:r>
            <a:r>
              <a:rPr sz="3000" dirty="0"/>
              <a:t> Pattern: Ciclo </a:t>
            </a:r>
            <a:r>
              <a:rPr sz="3000" dirty="0" err="1"/>
              <a:t>Ragionamento</a:t>
            </a:r>
            <a:r>
              <a:rPr sz="3000" dirty="0"/>
              <a:t> + Azione + </a:t>
            </a:r>
            <a:r>
              <a:rPr sz="3000" dirty="0" err="1"/>
              <a:t>Riflessione</a:t>
            </a:r>
            <a:r>
              <a:rPr sz="3000" dirty="0"/>
              <a:t> (Reflection).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/>
              <a:t>Backend </a:t>
            </a:r>
            <a:r>
              <a:rPr sz="3000" dirty="0" err="1"/>
              <a:t>Asincrono</a:t>
            </a:r>
            <a:r>
              <a:rPr sz="3000" dirty="0"/>
              <a:t>: Uso di </a:t>
            </a:r>
            <a:r>
              <a:rPr sz="3000" dirty="0" err="1"/>
              <a:t>FastAPI</a:t>
            </a:r>
            <a:r>
              <a:rPr sz="3000" dirty="0"/>
              <a:t> per </a:t>
            </a:r>
            <a:r>
              <a:rPr sz="3000" dirty="0" err="1"/>
              <a:t>gestire</a:t>
            </a:r>
            <a:r>
              <a:rPr sz="3000" dirty="0"/>
              <a:t> </a:t>
            </a:r>
            <a:r>
              <a:rPr sz="3000" dirty="0" err="1"/>
              <a:t>i</a:t>
            </a:r>
            <a:r>
              <a:rPr sz="3000" dirty="0"/>
              <a:t> tempi della </a:t>
            </a:r>
            <a:r>
              <a:rPr sz="3000" dirty="0" err="1"/>
              <a:t>ricerca</a:t>
            </a:r>
            <a:r>
              <a:rPr sz="3000" dirty="0"/>
              <a:t> web.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3883" y="274638"/>
            <a:ext cx="3052915" cy="1143000"/>
          </a:xfrm>
        </p:spPr>
        <p:txBody>
          <a:bodyPr/>
          <a:lstStyle/>
          <a:p>
            <a:pPr>
              <a:defRPr sz="2600">
                <a:solidFill>
                  <a:srgbClr val="01579B"/>
                </a:solidFill>
              </a:defRPr>
            </a:pPr>
            <a:r>
              <a:rPr dirty="0"/>
              <a:t>1. Frontend: </a:t>
            </a:r>
            <a:r>
              <a:rPr dirty="0" err="1"/>
              <a:t>Streamlit</a:t>
            </a:r>
            <a:r>
              <a:rPr dirty="0"/>
              <a:t> (UX)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3882" y="1494503"/>
            <a:ext cx="3144357" cy="3952568"/>
          </a:xfrm>
        </p:spPr>
        <p:txBody>
          <a:bodyPr wrap="square">
            <a:noAutofit/>
          </a:bodyPr>
          <a:lstStyle/>
          <a:p>
            <a:pPr marL="0" indent="0">
              <a:buNone/>
              <a:defRPr sz="1400"/>
            </a:pPr>
            <a:r>
              <a:rPr sz="2400" dirty="0" err="1"/>
              <a:t>Interfaccia</a:t>
            </a:r>
            <a:r>
              <a:rPr sz="2400" dirty="0"/>
              <a:t> </a:t>
            </a:r>
            <a:r>
              <a:rPr sz="2400" dirty="0" err="1"/>
              <a:t>Conversazionale</a:t>
            </a:r>
            <a:r>
              <a:rPr sz="2400" dirty="0"/>
              <a:t>: </a:t>
            </a:r>
            <a:r>
              <a:rPr sz="2400" dirty="0" err="1"/>
              <a:t>Dialogo</a:t>
            </a:r>
            <a:r>
              <a:rPr sz="2400" dirty="0"/>
              <a:t> </a:t>
            </a:r>
            <a:r>
              <a:rPr sz="2400" dirty="0" err="1"/>
              <a:t>naturale</a:t>
            </a:r>
            <a:r>
              <a:rPr sz="2400" dirty="0"/>
              <a:t> </a:t>
            </a:r>
            <a:r>
              <a:rPr sz="2400" dirty="0" err="1"/>
              <a:t>studente-orientatore</a:t>
            </a:r>
            <a:endParaRPr lang="it-IT" sz="2400" dirty="0"/>
          </a:p>
          <a:p>
            <a:pPr marL="0" indent="0">
              <a:buNone/>
              <a:defRPr sz="1400"/>
            </a:pPr>
            <a:endParaRPr lang="it-IT" sz="2400" dirty="0"/>
          </a:p>
          <a:p>
            <a:pPr marL="0" indent="0">
              <a:buNone/>
              <a:defRPr sz="1400"/>
            </a:pPr>
            <a:r>
              <a:rPr sz="2400" dirty="0"/>
              <a:t>Sidebar di </a:t>
            </a:r>
            <a:r>
              <a:rPr sz="2400" dirty="0" err="1"/>
              <a:t>Ispezione</a:t>
            </a:r>
            <a:r>
              <a:rPr sz="2400" dirty="0"/>
              <a:t>: </a:t>
            </a:r>
            <a:r>
              <a:rPr sz="2400" dirty="0" err="1"/>
              <a:t>Mostra</a:t>
            </a:r>
            <a:r>
              <a:rPr sz="2400" dirty="0"/>
              <a:t> in tempo </a:t>
            </a:r>
            <a:r>
              <a:rPr sz="2400" dirty="0" err="1"/>
              <a:t>reale</a:t>
            </a:r>
            <a:r>
              <a:rPr sz="2400" dirty="0"/>
              <a:t> </a:t>
            </a:r>
            <a:r>
              <a:rPr sz="2400" dirty="0" err="1"/>
              <a:t>i</a:t>
            </a:r>
            <a:r>
              <a:rPr sz="2400" dirty="0"/>
              <a:t> </a:t>
            </a:r>
            <a:r>
              <a:rPr sz="2400" dirty="0" err="1"/>
              <a:t>dati</a:t>
            </a:r>
            <a:r>
              <a:rPr sz="2400" dirty="0"/>
              <a:t> </a:t>
            </a:r>
            <a:r>
              <a:rPr sz="2400" dirty="0" err="1"/>
              <a:t>estratti</a:t>
            </a:r>
            <a:r>
              <a:rPr sz="2400" dirty="0"/>
              <a:t>.</a:t>
            </a:r>
            <a:endParaRPr lang="it-IT" sz="2400" dirty="0"/>
          </a:p>
          <a:p>
            <a:pPr marL="0" indent="0">
              <a:buNone/>
              <a:defRPr sz="1400"/>
            </a:pPr>
            <a:endParaRPr lang="it-IT" sz="2400" dirty="0"/>
          </a:p>
          <a:p>
            <a:pPr marL="0" indent="0">
              <a:buNone/>
              <a:defRPr sz="1400"/>
            </a:pPr>
            <a:r>
              <a:rPr lang="it-IT" sz="2400" dirty="0"/>
              <a:t>T</a:t>
            </a:r>
            <a:r>
              <a:rPr sz="2400" dirty="0" err="1"/>
              <a:t>rasparenza</a:t>
            </a:r>
            <a:r>
              <a:rPr lang="it-IT" sz="2400" dirty="0"/>
              <a:t> (</a:t>
            </a:r>
            <a:r>
              <a:rPr sz="2400" dirty="0"/>
              <a:t>Huyen, </a:t>
            </a:r>
            <a:r>
              <a:rPr sz="2400" dirty="0" err="1"/>
              <a:t>pag</a:t>
            </a:r>
            <a:r>
              <a:rPr sz="2400" dirty="0"/>
              <a:t>. 289)</a:t>
            </a:r>
            <a:r>
              <a:rPr lang="it-IT" sz="2400" dirty="0"/>
              <a:t>:</a:t>
            </a:r>
          </a:p>
          <a:p>
            <a:pPr marL="0" indent="0">
              <a:buNone/>
              <a:defRPr sz="1400"/>
            </a:pPr>
            <a:r>
              <a:rPr sz="2400" dirty="0" err="1"/>
              <a:t>Validare</a:t>
            </a:r>
            <a:r>
              <a:rPr sz="2400" dirty="0"/>
              <a:t> </a:t>
            </a:r>
            <a:r>
              <a:rPr sz="2400" dirty="0" err="1"/>
              <a:t>i</a:t>
            </a:r>
            <a:r>
              <a:rPr sz="2400" dirty="0"/>
              <a:t> </a:t>
            </a:r>
            <a:r>
              <a:rPr sz="2400" dirty="0" err="1"/>
              <a:t>dati</a:t>
            </a:r>
            <a:r>
              <a:rPr sz="2400" dirty="0"/>
              <a:t> </a:t>
            </a:r>
            <a:r>
              <a:rPr sz="2400" dirty="0" err="1"/>
              <a:t>aumenta</a:t>
            </a:r>
            <a:r>
              <a:rPr sz="2400" dirty="0"/>
              <a:t> la fiducia.</a:t>
            </a:r>
          </a:p>
        </p:txBody>
      </p:sp>
      <p:pic>
        <p:nvPicPr>
          <p:cNvPr id="4" name="Picture 3" descr="Architettura_Blocchi_Proget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90" y="274638"/>
            <a:ext cx="5162919" cy="6211674"/>
          </a:xfrm>
          <a:prstGeom prst="rect">
            <a:avLst/>
          </a:prstGeom>
        </p:spPr>
      </p:pic>
      <p:pic>
        <p:nvPicPr>
          <p:cNvPr id="5" name="Picture 3" descr="Architettura_Blocchi_Progetto.png">
            <a:extLst>
              <a:ext uri="{FF2B5EF4-FFF2-40B4-BE49-F238E27FC236}">
                <a16:creationId xmlns:a16="http://schemas.microsoft.com/office/drawing/2014/main" id="{8D1766BC-5027-8EAF-CF53-C185D304A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638"/>
            <a:ext cx="5162919" cy="62116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351E2-157C-358E-E803-46561F24B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26CEE-5251-4636-F7E6-A6DFD3074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883" y="274638"/>
            <a:ext cx="3052915" cy="1143000"/>
          </a:xfrm>
        </p:spPr>
        <p:txBody>
          <a:bodyPr/>
          <a:lstStyle/>
          <a:p>
            <a:pPr>
              <a:defRPr sz="2600">
                <a:solidFill>
                  <a:srgbClr val="01579B"/>
                </a:solidFill>
              </a:defRPr>
            </a:pPr>
            <a:r>
              <a:rPr lang="it-IT" dirty="0"/>
              <a:t>2. </a:t>
            </a:r>
            <a:r>
              <a:rPr lang="it-IT" dirty="0" err="1"/>
              <a:t>Backend</a:t>
            </a:r>
            <a:r>
              <a:rPr lang="it-IT" dirty="0"/>
              <a:t>: </a:t>
            </a:r>
            <a:br>
              <a:rPr lang="it-IT" dirty="0"/>
            </a:br>
            <a:r>
              <a:rPr lang="it-IT" dirty="0" err="1"/>
              <a:t>FastAPI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C0F78-F062-C647-B559-FEC0E11BF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426" y="1494503"/>
            <a:ext cx="3527814" cy="3952568"/>
          </a:xfrm>
        </p:spPr>
        <p:txBody>
          <a:bodyPr wrap="square">
            <a:noAutofit/>
          </a:bodyPr>
          <a:lstStyle/>
          <a:p>
            <a:pPr>
              <a:defRPr sz="1400"/>
            </a:pPr>
            <a:r>
              <a:rPr lang="it-IT" sz="2400" dirty="0"/>
              <a:t>Service Interface: Contratto JSON tra UI e Grafo.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 err="1"/>
              <a:t>Async</a:t>
            </a:r>
            <a:r>
              <a:rPr lang="it-IT" sz="2400" dirty="0"/>
              <a:t> Handling: Gestione parallela di web </a:t>
            </a:r>
            <a:r>
              <a:rPr lang="it-IT" sz="2400" dirty="0" err="1"/>
              <a:t>search</a:t>
            </a:r>
            <a:r>
              <a:rPr lang="it-IT" sz="2400" dirty="0"/>
              <a:t> e inferenza.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/>
              <a:t>Validazione: </a:t>
            </a:r>
          </a:p>
          <a:p>
            <a:pPr>
              <a:defRPr sz="1400"/>
            </a:pPr>
            <a:r>
              <a:rPr lang="it-IT" sz="2400" dirty="0"/>
              <a:t>Controllo dei tipi tramite </a:t>
            </a:r>
            <a:r>
              <a:rPr lang="it-IT" sz="2400" dirty="0" err="1"/>
              <a:t>Pydantic</a:t>
            </a:r>
            <a:r>
              <a:rPr lang="it-IT" sz="2400" dirty="0"/>
              <a:t>.</a:t>
            </a:r>
          </a:p>
        </p:txBody>
      </p:sp>
      <p:pic>
        <p:nvPicPr>
          <p:cNvPr id="4" name="Picture 3" descr="Architettura_Blocchi_Progetto.png">
            <a:extLst>
              <a:ext uri="{FF2B5EF4-FFF2-40B4-BE49-F238E27FC236}">
                <a16:creationId xmlns:a16="http://schemas.microsoft.com/office/drawing/2014/main" id="{508402DE-6758-82A9-6E9E-90A97F891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638"/>
            <a:ext cx="5162919" cy="62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768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BF264-4BD0-9C0B-908D-AB464763A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BB29D-116C-BB36-B2C5-FB70F1BAA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883" y="274638"/>
            <a:ext cx="3052915" cy="1143000"/>
          </a:xfrm>
        </p:spPr>
        <p:txBody>
          <a:bodyPr/>
          <a:lstStyle/>
          <a:p>
            <a:pPr>
              <a:defRPr sz="2600">
                <a:solidFill>
                  <a:srgbClr val="01579B"/>
                </a:solidFill>
              </a:defRPr>
            </a:pPr>
            <a:r>
              <a:rPr lang="it-IT" dirty="0"/>
              <a:t>3a. Core: </a:t>
            </a:r>
            <a:br>
              <a:rPr lang="it-IT" dirty="0"/>
            </a:br>
            <a:r>
              <a:rPr lang="it-IT" dirty="0" err="1"/>
              <a:t>LangGraph</a:t>
            </a:r>
            <a:r>
              <a:rPr lang="it-IT" dirty="0"/>
              <a:t> (</a:t>
            </a:r>
            <a:r>
              <a:rPr lang="it-IT" dirty="0" err="1"/>
              <a:t>Logic</a:t>
            </a:r>
            <a:r>
              <a:rPr lang="it-IT" dirty="0"/>
              <a:t>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E27DF-35F8-D2A6-3BA5-D3909D29B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426" y="1494503"/>
            <a:ext cx="3527814" cy="4395020"/>
          </a:xfrm>
        </p:spPr>
        <p:txBody>
          <a:bodyPr wrap="square">
            <a:noAutofit/>
          </a:bodyPr>
          <a:lstStyle/>
          <a:p>
            <a:pPr>
              <a:defRPr sz="1400"/>
            </a:pPr>
            <a:r>
              <a:rPr lang="it-IT" sz="2400" dirty="0"/>
              <a:t>Orchestrazione: Definisce il grafo degli stati.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/>
              <a:t>Feedback Loops: Permette all’agente di auto-correggersi.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/>
              <a:t>Router: </a:t>
            </a:r>
          </a:p>
          <a:p>
            <a:pPr>
              <a:defRPr sz="1400"/>
            </a:pPr>
            <a:r>
              <a:rPr lang="it-IT" sz="2400" dirty="0"/>
              <a:t>Decide se attivare i tool o rispondere.</a:t>
            </a:r>
          </a:p>
        </p:txBody>
      </p:sp>
      <p:pic>
        <p:nvPicPr>
          <p:cNvPr id="4" name="Picture 3" descr="Architettura_Blocchi_Progetto.png">
            <a:extLst>
              <a:ext uri="{FF2B5EF4-FFF2-40B4-BE49-F238E27FC236}">
                <a16:creationId xmlns:a16="http://schemas.microsoft.com/office/drawing/2014/main" id="{A0747382-B703-9FC9-3104-E4CD39E60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638"/>
            <a:ext cx="5162919" cy="62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191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BCB25-7063-7824-21AE-EBB3DC2AD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0954-B061-40A0-9DEB-01F91A7B6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883" y="274638"/>
            <a:ext cx="3052915" cy="1143000"/>
          </a:xfrm>
        </p:spPr>
        <p:txBody>
          <a:bodyPr/>
          <a:lstStyle/>
          <a:p>
            <a:pPr>
              <a:defRPr sz="2600">
                <a:solidFill>
                  <a:srgbClr val="01579B"/>
                </a:solidFill>
              </a:defRPr>
            </a:pPr>
            <a:r>
              <a:rPr lang="it-IT" dirty="0"/>
              <a:t>3a. Core: </a:t>
            </a:r>
            <a:br>
              <a:rPr lang="it-IT" dirty="0"/>
            </a:br>
            <a:r>
              <a:rPr lang="it-IT" dirty="0" err="1"/>
              <a:t>LangGraph</a:t>
            </a:r>
            <a:r>
              <a:rPr lang="it-IT" dirty="0"/>
              <a:t> (</a:t>
            </a:r>
            <a:r>
              <a:rPr lang="it-IT" dirty="0" err="1"/>
              <a:t>Logic</a:t>
            </a:r>
            <a:r>
              <a:rPr lang="it-IT" dirty="0"/>
              <a:t>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4F04B-44D5-34EA-1690-2039E2CEC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426" y="1494503"/>
            <a:ext cx="3527814" cy="4395020"/>
          </a:xfrm>
        </p:spPr>
        <p:txBody>
          <a:bodyPr wrap="square">
            <a:noAutofit/>
          </a:bodyPr>
          <a:lstStyle/>
          <a:p>
            <a:pPr>
              <a:defRPr sz="1400"/>
            </a:pPr>
            <a:r>
              <a:rPr lang="it-IT" sz="2400" dirty="0"/>
              <a:t>Orchestrazione: Definisce il grafo degli stati.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/>
              <a:t>Feedback Loops: Permette all’agente di auto-correggersi.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/>
              <a:t>Router: </a:t>
            </a:r>
          </a:p>
          <a:p>
            <a:pPr>
              <a:defRPr sz="1400"/>
            </a:pPr>
            <a:r>
              <a:rPr lang="it-IT" sz="2400" dirty="0"/>
              <a:t>Decide se attivare i tool o rispondere.</a:t>
            </a:r>
          </a:p>
        </p:txBody>
      </p:sp>
      <p:pic>
        <p:nvPicPr>
          <p:cNvPr id="4" name="Picture 3" descr="Architettura_Blocchi_Progetto.png">
            <a:extLst>
              <a:ext uri="{FF2B5EF4-FFF2-40B4-BE49-F238E27FC236}">
                <a16:creationId xmlns:a16="http://schemas.microsoft.com/office/drawing/2014/main" id="{4FF0FF01-4BE0-9676-8530-B65A739B4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638"/>
            <a:ext cx="5162919" cy="62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071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79CE8-0373-E22F-9501-06E2EF8B4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40F4A-A03C-CA87-F4F4-EB1C8C2C2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883" y="274638"/>
            <a:ext cx="3052915" cy="1143000"/>
          </a:xfrm>
        </p:spPr>
        <p:txBody>
          <a:bodyPr/>
          <a:lstStyle/>
          <a:p>
            <a:pPr>
              <a:defRPr sz="2600">
                <a:solidFill>
                  <a:srgbClr val="01579B"/>
                </a:solidFill>
              </a:defRPr>
            </a:pPr>
            <a:r>
              <a:rPr lang="it-IT" dirty="0"/>
              <a:t>3b. Memoria: state.py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9AD33-A78D-4653-590C-B3CF8B94D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426" y="1494503"/>
            <a:ext cx="3527814" cy="4395020"/>
          </a:xfrm>
        </p:spPr>
        <p:txBody>
          <a:bodyPr wrap="square">
            <a:noAutofit/>
          </a:bodyPr>
          <a:lstStyle/>
          <a:p>
            <a:pPr>
              <a:defRPr sz="1400"/>
            </a:pPr>
            <a:r>
              <a:rPr lang="it-IT" sz="2400" dirty="0"/>
              <a:t>Persistenza: </a:t>
            </a:r>
          </a:p>
          <a:p>
            <a:pPr>
              <a:defRPr sz="1400"/>
            </a:pPr>
            <a:r>
              <a:rPr lang="it-IT" sz="2400" dirty="0"/>
              <a:t>Memorizza i vincoli per tutta la sessione.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/>
              <a:t>•</a:t>
            </a:r>
            <a:r>
              <a:rPr lang="it-IT" sz="2400" dirty="0" err="1"/>
              <a:t>Context</a:t>
            </a:r>
            <a:r>
              <a:rPr lang="it-IT" sz="2400" dirty="0"/>
              <a:t> Construction (Pag. 253):</a:t>
            </a:r>
          </a:p>
          <a:p>
            <a:pPr>
              <a:defRPr sz="1400"/>
            </a:pPr>
            <a:r>
              <a:rPr lang="it-IT" sz="2400" dirty="0"/>
              <a:t>Inserisce i dati utente nel prompt.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/>
              <a:t>Integrità: Impedisce di confondere i parametri.</a:t>
            </a:r>
          </a:p>
        </p:txBody>
      </p:sp>
      <p:pic>
        <p:nvPicPr>
          <p:cNvPr id="4" name="Picture 3" descr="Architettura_Blocchi_Progetto.png">
            <a:extLst>
              <a:ext uri="{FF2B5EF4-FFF2-40B4-BE49-F238E27FC236}">
                <a16:creationId xmlns:a16="http://schemas.microsoft.com/office/drawing/2014/main" id="{3BC84B55-2884-A657-D1B3-586A7CF4E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638"/>
            <a:ext cx="5162919" cy="62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293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F4F01-37CA-8D04-795B-C5AA5B9F8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4D75-9021-E7DA-F049-2B539D665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883" y="274638"/>
            <a:ext cx="3052915" cy="1143000"/>
          </a:xfrm>
        </p:spPr>
        <p:txBody>
          <a:bodyPr/>
          <a:lstStyle/>
          <a:p>
            <a:pPr>
              <a:defRPr sz="2600">
                <a:solidFill>
                  <a:srgbClr val="01579B"/>
                </a:solidFill>
              </a:defRPr>
            </a:pPr>
            <a:r>
              <a:rPr lang="it-IT" dirty="0"/>
              <a:t>3c. Estrazione: parser.py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8487F-A319-5FB6-146A-D03F234E8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426" y="1494503"/>
            <a:ext cx="3527814" cy="4395020"/>
          </a:xfrm>
        </p:spPr>
        <p:txBody>
          <a:bodyPr wrap="square">
            <a:noAutofit/>
          </a:bodyPr>
          <a:lstStyle/>
          <a:p>
            <a:pPr>
              <a:defRPr sz="1400"/>
            </a:pPr>
            <a:r>
              <a:rPr lang="it-IT" sz="2400" dirty="0"/>
              <a:t>Feature Engineering: Isola i fatti rilevanti dal testo libero.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 err="1"/>
              <a:t>Structured</a:t>
            </a:r>
            <a:r>
              <a:rPr lang="it-IT" sz="2400" dirty="0"/>
              <a:t> Output: Converte frasi in oggetti Python validati.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 err="1"/>
              <a:t>LangChain</a:t>
            </a:r>
            <a:r>
              <a:rPr lang="it-IT" sz="2400" dirty="0"/>
              <a:t>: </a:t>
            </a:r>
          </a:p>
          <a:p>
            <a:pPr>
              <a:defRPr sz="1400"/>
            </a:pPr>
            <a:r>
              <a:rPr lang="it-IT" sz="2400" dirty="0"/>
              <a:t>Uso di .</a:t>
            </a:r>
            <a:r>
              <a:rPr lang="it-IT" sz="2400" dirty="0" err="1"/>
              <a:t>with_structured_output</a:t>
            </a:r>
            <a:r>
              <a:rPr lang="it-IT" sz="2400" dirty="0"/>
              <a:t>().</a:t>
            </a:r>
          </a:p>
        </p:txBody>
      </p:sp>
      <p:pic>
        <p:nvPicPr>
          <p:cNvPr id="4" name="Picture 3" descr="Architettura_Blocchi_Progetto.png">
            <a:extLst>
              <a:ext uri="{FF2B5EF4-FFF2-40B4-BE49-F238E27FC236}">
                <a16:creationId xmlns:a16="http://schemas.microsoft.com/office/drawing/2014/main" id="{568FA5A4-0D42-E806-FD1F-1C14D8F97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638"/>
            <a:ext cx="5162919" cy="62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329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05C36-AEAB-9308-9C3E-8103A220E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A459B-2805-CE3A-7188-A23B3B98F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883" y="274638"/>
            <a:ext cx="3052915" cy="1143000"/>
          </a:xfrm>
        </p:spPr>
        <p:txBody>
          <a:bodyPr/>
          <a:lstStyle/>
          <a:p>
            <a:pPr>
              <a:defRPr sz="2600">
                <a:solidFill>
                  <a:srgbClr val="01579B"/>
                </a:solidFill>
              </a:defRPr>
            </a:pPr>
            <a:r>
              <a:rPr lang="it-IT" dirty="0"/>
              <a:t>4. Risorse: </a:t>
            </a:r>
            <a:br>
              <a:rPr lang="it-IT" dirty="0"/>
            </a:br>
            <a:r>
              <a:rPr lang="it-IT" dirty="0" err="1"/>
              <a:t>Groq</a:t>
            </a:r>
            <a:r>
              <a:rPr lang="it-IT" dirty="0"/>
              <a:t> &amp; Tool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BC532-5C5F-981A-6D49-F2BB75838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426" y="1494503"/>
            <a:ext cx="3527814" cy="4395020"/>
          </a:xfrm>
        </p:spPr>
        <p:txBody>
          <a:bodyPr wrap="square">
            <a:noAutofit/>
          </a:bodyPr>
          <a:lstStyle/>
          <a:p>
            <a:pPr>
              <a:defRPr sz="1400"/>
            </a:pPr>
            <a:r>
              <a:rPr lang="it-IT" sz="2400" dirty="0" err="1"/>
              <a:t>Llama</a:t>
            </a:r>
            <a:r>
              <a:rPr lang="it-IT" sz="2400" dirty="0"/>
              <a:t> 3.3 (</a:t>
            </a:r>
            <a:r>
              <a:rPr lang="it-IT" sz="2400" dirty="0" err="1"/>
              <a:t>Groq</a:t>
            </a:r>
            <a:r>
              <a:rPr lang="it-IT" sz="2400" dirty="0"/>
              <a:t>): Ragionamento ad alta velocità (LPU).</a:t>
            </a:r>
            <a:br>
              <a:rPr lang="it-IT" sz="2400" dirty="0"/>
            </a:br>
            <a:endParaRPr lang="it-IT" sz="2400" dirty="0"/>
          </a:p>
          <a:p>
            <a:pPr>
              <a:defRPr sz="1400"/>
            </a:pPr>
            <a:r>
              <a:rPr lang="it-IT" sz="2400" dirty="0"/>
              <a:t>Tool Inventory (Pag. 278):</a:t>
            </a:r>
          </a:p>
          <a:p>
            <a:pPr>
              <a:defRPr sz="1400"/>
            </a:pPr>
            <a:r>
              <a:rPr lang="it-IT" sz="2400" dirty="0"/>
              <a:t>L’agente interagisce con il mondo esterno.</a:t>
            </a:r>
          </a:p>
        </p:txBody>
      </p:sp>
      <p:pic>
        <p:nvPicPr>
          <p:cNvPr id="4" name="Picture 3" descr="Architettura_Blocchi_Progetto.png">
            <a:extLst>
              <a:ext uri="{FF2B5EF4-FFF2-40B4-BE49-F238E27FC236}">
                <a16:creationId xmlns:a16="http://schemas.microsoft.com/office/drawing/2014/main" id="{0C9B9FEC-C9C0-407A-5516-6945660DD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638"/>
            <a:ext cx="5162919" cy="62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728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30E62-FD14-760B-049F-DFAA5FBF1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D7AE4-BD38-E8CC-DDAB-4AF318287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2307" y="274638"/>
            <a:ext cx="3980328" cy="1143000"/>
          </a:xfrm>
        </p:spPr>
        <p:txBody>
          <a:bodyPr>
            <a:normAutofit/>
          </a:bodyPr>
          <a:lstStyle/>
          <a:p>
            <a:pPr>
              <a:defRPr sz="2600">
                <a:solidFill>
                  <a:srgbClr val="01579B"/>
                </a:solidFill>
              </a:defRPr>
            </a:pPr>
            <a:r>
              <a:rPr lang="it-IT" dirty="0"/>
              <a:t>4a. </a:t>
            </a:r>
            <a:r>
              <a:rPr lang="en-US" dirty="0"/>
              <a:t>Tool: </a:t>
            </a:r>
            <a:br>
              <a:rPr lang="en-US" dirty="0"/>
            </a:br>
            <a:r>
              <a:rPr lang="en-US" dirty="0"/>
              <a:t>Web Search (search.py)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82381-70A7-07EB-CDB7-05680BD08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426" y="1494503"/>
            <a:ext cx="3527814" cy="4395020"/>
          </a:xfrm>
        </p:spPr>
        <p:txBody>
          <a:bodyPr wrap="square">
            <a:noAutofit/>
          </a:bodyPr>
          <a:lstStyle/>
          <a:p>
            <a:pPr>
              <a:defRPr sz="1400"/>
            </a:pPr>
            <a:r>
              <a:rPr lang="it-IT" sz="2400" dirty="0" err="1"/>
              <a:t>Retrieval</a:t>
            </a:r>
            <a:r>
              <a:rPr lang="it-IT" sz="2400" dirty="0"/>
              <a:t> Live: </a:t>
            </a:r>
          </a:p>
          <a:p>
            <a:pPr>
              <a:defRPr sz="1400"/>
            </a:pPr>
            <a:r>
              <a:rPr lang="it-IT" sz="2400" dirty="0"/>
              <a:t>Trova bandi e aziende attive ora.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/>
              <a:t>Query Writing: L’agente genera query mirate.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 err="1"/>
              <a:t>DuckDuckGo</a:t>
            </a:r>
            <a:r>
              <a:rPr lang="it-IT" sz="2400" dirty="0"/>
              <a:t>: Nessun database statico obsoleto.</a:t>
            </a:r>
          </a:p>
        </p:txBody>
      </p:sp>
      <p:pic>
        <p:nvPicPr>
          <p:cNvPr id="4" name="Picture 3" descr="Architettura_Blocchi_Progetto.png">
            <a:extLst>
              <a:ext uri="{FF2B5EF4-FFF2-40B4-BE49-F238E27FC236}">
                <a16:creationId xmlns:a16="http://schemas.microsoft.com/office/drawing/2014/main" id="{1A482D10-7B54-6B42-53D6-4338DD25F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638"/>
            <a:ext cx="5162919" cy="62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505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7102B-A414-CA31-EA26-F9F39818E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B8E4E-F4A5-082D-696A-F60170003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883" y="274638"/>
            <a:ext cx="3052915" cy="1143000"/>
          </a:xfrm>
        </p:spPr>
        <p:txBody>
          <a:bodyPr>
            <a:normAutofit/>
          </a:bodyPr>
          <a:lstStyle/>
          <a:p>
            <a:pPr>
              <a:defRPr sz="2600">
                <a:solidFill>
                  <a:srgbClr val="01579B"/>
                </a:solidFill>
              </a:defRPr>
            </a:pPr>
            <a:r>
              <a:rPr lang="it-IT" dirty="0"/>
              <a:t>4b. Tool: </a:t>
            </a:r>
            <a:br>
              <a:rPr lang="it-IT" dirty="0"/>
            </a:br>
            <a:r>
              <a:rPr lang="it-IT" dirty="0" err="1"/>
              <a:t>Scraper</a:t>
            </a:r>
            <a:r>
              <a:rPr lang="it-IT" dirty="0"/>
              <a:t> (scraper.py)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23A14-F04E-2ED5-4264-44A7BA916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426" y="1494503"/>
            <a:ext cx="3527814" cy="4395020"/>
          </a:xfrm>
        </p:spPr>
        <p:txBody>
          <a:bodyPr wrap="square">
            <a:noAutofit/>
          </a:bodyPr>
          <a:lstStyle/>
          <a:p>
            <a:pPr>
              <a:defRPr sz="1400"/>
            </a:pPr>
            <a:r>
              <a:rPr lang="it-IT" sz="2400" dirty="0"/>
              <a:t>Deep </a:t>
            </a:r>
            <a:r>
              <a:rPr lang="it-IT" sz="2400" dirty="0" err="1"/>
              <a:t>Inspection</a:t>
            </a:r>
            <a:r>
              <a:rPr lang="it-IT" sz="2400" dirty="0"/>
              <a:t>: </a:t>
            </a:r>
          </a:p>
          <a:p>
            <a:pPr>
              <a:defRPr sz="1400"/>
            </a:pPr>
            <a:r>
              <a:rPr lang="it-IT" sz="2400" dirty="0"/>
              <a:t>Legge il testo delle pagine per estrarre requisiti.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/>
              <a:t>Reliability (Pag. 299: Gestione dei blocchi via User-Agent.</a:t>
            </a:r>
          </a:p>
          <a:p>
            <a:pPr>
              <a:defRPr sz="1400"/>
            </a:pPr>
            <a:br>
              <a:rPr lang="it-IT" sz="2400" dirty="0"/>
            </a:br>
            <a:r>
              <a:rPr lang="it-IT" sz="2400" dirty="0"/>
              <a:t>Grounding: Consigli basati su fatti letti.</a:t>
            </a:r>
          </a:p>
        </p:txBody>
      </p:sp>
      <p:pic>
        <p:nvPicPr>
          <p:cNvPr id="4" name="Picture 3" descr="Architettura_Blocchi_Progetto.png">
            <a:extLst>
              <a:ext uri="{FF2B5EF4-FFF2-40B4-BE49-F238E27FC236}">
                <a16:creationId xmlns:a16="http://schemas.microsoft.com/office/drawing/2014/main" id="{9864D014-063F-AADA-F363-BDD04C365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638"/>
            <a:ext cx="5162919" cy="62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842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4283" y="274638"/>
            <a:ext cx="3662515" cy="1143000"/>
          </a:xfrm>
        </p:spPr>
        <p:txBody>
          <a:bodyPr/>
          <a:lstStyle/>
          <a:p>
            <a:pPr>
              <a:defRPr sz="2600"/>
            </a:pPr>
            <a:r>
              <a:rPr dirty="0"/>
              <a:t>Ciclo Vita: Step 1</a:t>
            </a:r>
            <a:r>
              <a:rPr lang="it-IT" dirty="0"/>
              <a:t> </a:t>
            </a:r>
            <a:r>
              <a:rPr dirty="0" err="1"/>
              <a:t>Percezione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0" y="1645919"/>
            <a:ext cx="3931920" cy="4381255"/>
          </a:xfrm>
        </p:spPr>
        <p:txBody>
          <a:bodyPr wrap="square">
            <a:noAutofit/>
          </a:bodyPr>
          <a:lstStyle/>
          <a:p>
            <a:pPr>
              <a:defRPr sz="1400"/>
            </a:pPr>
            <a:r>
              <a:rPr sz="2400" dirty="0"/>
              <a:t>ESEMPIO: Marco dice "Vivo a Milano e </a:t>
            </a:r>
            <a:r>
              <a:rPr sz="2400" dirty="0" err="1"/>
              <a:t>voglio</a:t>
            </a:r>
            <a:r>
              <a:rPr sz="2400" dirty="0"/>
              <a:t> </a:t>
            </a:r>
            <a:r>
              <a:rPr lang="it-IT" sz="2400" dirty="0"/>
              <a:t>lavorare nella</a:t>
            </a:r>
            <a:r>
              <a:rPr sz="2400" dirty="0"/>
              <a:t> Cyber</a:t>
            </a:r>
            <a:r>
              <a:rPr lang="it-IT" sz="2400" dirty="0"/>
              <a:t>security</a:t>
            </a:r>
            <a:r>
              <a:rPr sz="2400" dirty="0"/>
              <a:t>".</a:t>
            </a:r>
            <a:br>
              <a:rPr sz="2400" dirty="0"/>
            </a:br>
            <a:br>
              <a:rPr sz="2400" dirty="0"/>
            </a:br>
            <a:r>
              <a:rPr sz="2400" dirty="0"/>
              <a:t>1. Il </a:t>
            </a:r>
            <a:r>
              <a:rPr sz="2400" dirty="0" err="1"/>
              <a:t>nodo</a:t>
            </a:r>
            <a:r>
              <a:rPr sz="2400" dirty="0"/>
              <a:t> PARSER </a:t>
            </a:r>
            <a:r>
              <a:rPr sz="2400" dirty="0" err="1"/>
              <a:t>analizza</a:t>
            </a:r>
            <a:r>
              <a:rPr sz="2400" dirty="0"/>
              <a:t> il </a:t>
            </a:r>
            <a:r>
              <a:rPr sz="2400" dirty="0" err="1"/>
              <a:t>messaggio</a:t>
            </a:r>
            <a:r>
              <a:rPr sz="2400" dirty="0"/>
              <a:t>.</a:t>
            </a:r>
            <a:br>
              <a:rPr sz="2400" dirty="0"/>
            </a:br>
            <a:r>
              <a:rPr sz="2400" dirty="0"/>
              <a:t>2. </a:t>
            </a:r>
            <a:r>
              <a:rPr sz="2400" dirty="0" err="1"/>
              <a:t>Estrae</a:t>
            </a:r>
            <a:r>
              <a:rPr sz="2400" dirty="0"/>
              <a:t> "Milano" e "Cybersecurity".</a:t>
            </a:r>
            <a:br>
              <a:rPr sz="2400" dirty="0"/>
            </a:br>
            <a:r>
              <a:rPr sz="2400" dirty="0"/>
              <a:t>3. Scrive </a:t>
            </a:r>
            <a:r>
              <a:rPr sz="2400" dirty="0" err="1"/>
              <a:t>i</a:t>
            </a:r>
            <a:r>
              <a:rPr sz="2400" dirty="0"/>
              <a:t> </a:t>
            </a:r>
            <a:r>
              <a:rPr sz="2400" dirty="0" err="1"/>
              <a:t>dati</a:t>
            </a:r>
            <a:r>
              <a:rPr sz="2400" dirty="0"/>
              <a:t> in STATE.PY.</a:t>
            </a:r>
            <a:br>
              <a:rPr sz="2400" dirty="0"/>
            </a:br>
            <a:r>
              <a:rPr sz="2400" dirty="0"/>
              <a:t>4. La Sidebar di </a:t>
            </a:r>
            <a:r>
              <a:rPr sz="2400" dirty="0" err="1"/>
              <a:t>Streamlit</a:t>
            </a:r>
            <a:r>
              <a:rPr sz="2400" dirty="0"/>
              <a:t> </a:t>
            </a:r>
            <a:r>
              <a:rPr sz="2400" dirty="0" err="1"/>
              <a:t>si</a:t>
            </a:r>
            <a:r>
              <a:rPr sz="2400" dirty="0"/>
              <a:t> </a:t>
            </a:r>
            <a:r>
              <a:rPr sz="2400" dirty="0" err="1"/>
              <a:t>aggiorna</a:t>
            </a:r>
            <a:r>
              <a:rPr sz="2400" dirty="0"/>
              <a:t> </a:t>
            </a:r>
            <a:r>
              <a:rPr sz="2400" dirty="0" err="1"/>
              <a:t>visivamente</a:t>
            </a:r>
            <a:r>
              <a:rPr sz="2400" dirty="0"/>
              <a:t>.</a:t>
            </a:r>
          </a:p>
        </p:txBody>
      </p:sp>
      <p:pic>
        <p:nvPicPr>
          <p:cNvPr id="4" name="Picture 3" descr="Diagramma_Verticale_Ag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56987"/>
            <a:ext cx="4749964" cy="61440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8580" y="274638"/>
            <a:ext cx="3328219" cy="1143000"/>
          </a:xfrm>
        </p:spPr>
        <p:txBody>
          <a:bodyPr/>
          <a:lstStyle/>
          <a:p>
            <a:pPr>
              <a:defRPr sz="2600"/>
            </a:pPr>
            <a:r>
              <a:rPr dirty="0"/>
              <a:t>Ciclo Vita: Step 2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0" y="1645920"/>
            <a:ext cx="3931920" cy="4686054"/>
          </a:xfrm>
        </p:spPr>
        <p:txBody>
          <a:bodyPr wrap="square">
            <a:normAutofit/>
          </a:bodyPr>
          <a:lstStyle/>
          <a:p>
            <a:pPr>
              <a:defRPr sz="1400"/>
            </a:pPr>
            <a:r>
              <a:rPr sz="2400" dirty="0"/>
              <a:t>L’ANALYZER </a:t>
            </a:r>
            <a:r>
              <a:rPr sz="2400" dirty="0" err="1"/>
              <a:t>riceve</a:t>
            </a:r>
            <a:r>
              <a:rPr sz="2400" dirty="0"/>
              <a:t> il </a:t>
            </a:r>
            <a:r>
              <a:rPr sz="2400" dirty="0" err="1"/>
              <a:t>profilo</a:t>
            </a:r>
            <a:r>
              <a:rPr sz="2400" dirty="0"/>
              <a:t> </a:t>
            </a:r>
            <a:r>
              <a:rPr sz="2400" dirty="0" err="1"/>
              <a:t>aggiornato</a:t>
            </a:r>
            <a:r>
              <a:rPr sz="2400" dirty="0"/>
              <a:t>.</a:t>
            </a:r>
            <a:br>
              <a:rPr sz="2400" dirty="0"/>
            </a:br>
            <a:br>
              <a:rPr sz="2400" dirty="0"/>
            </a:br>
            <a:r>
              <a:rPr sz="2400" dirty="0"/>
              <a:t>1. </a:t>
            </a:r>
            <a:r>
              <a:rPr sz="2400" dirty="0" err="1"/>
              <a:t>Ragionamento</a:t>
            </a:r>
            <a:r>
              <a:rPr sz="2400" dirty="0"/>
              <a:t>: "So </a:t>
            </a:r>
            <a:r>
              <a:rPr sz="2400" dirty="0" err="1"/>
              <a:t>cosa</a:t>
            </a:r>
            <a:r>
              <a:rPr sz="2400" dirty="0"/>
              <a:t> </a:t>
            </a:r>
            <a:r>
              <a:rPr sz="2400" dirty="0" err="1"/>
              <a:t>cerca</a:t>
            </a:r>
            <a:r>
              <a:rPr sz="2400" dirty="0"/>
              <a:t> Marco, ma mi </a:t>
            </a:r>
            <a:r>
              <a:rPr sz="2400" dirty="0" err="1"/>
              <a:t>mancano</a:t>
            </a:r>
            <a:r>
              <a:rPr sz="2400" dirty="0"/>
              <a:t> le </a:t>
            </a:r>
            <a:r>
              <a:rPr sz="2400" dirty="0" err="1"/>
              <a:t>aziende</a:t>
            </a:r>
            <a:r>
              <a:rPr sz="2400" dirty="0"/>
              <a:t> </a:t>
            </a:r>
            <a:r>
              <a:rPr sz="2400" dirty="0" err="1"/>
              <a:t>reali</a:t>
            </a:r>
            <a:r>
              <a:rPr sz="2400" dirty="0"/>
              <a:t>".</a:t>
            </a:r>
            <a:br>
              <a:rPr sz="2400" dirty="0"/>
            </a:br>
            <a:r>
              <a:rPr sz="2400" dirty="0"/>
              <a:t>2. </a:t>
            </a:r>
            <a:r>
              <a:rPr sz="2400" dirty="0" err="1"/>
              <a:t>Intento</a:t>
            </a:r>
            <a:r>
              <a:rPr sz="2400" dirty="0"/>
              <a:t>: Genera il </a:t>
            </a:r>
            <a:r>
              <a:rPr sz="2400" dirty="0" err="1"/>
              <a:t>comando</a:t>
            </a:r>
            <a:r>
              <a:rPr sz="2400" dirty="0"/>
              <a:t> AZIONE: RICERCA.</a:t>
            </a:r>
            <a:br>
              <a:rPr sz="2400" dirty="0"/>
            </a:br>
            <a:r>
              <a:rPr sz="2400" dirty="0"/>
              <a:t>3. Decoupling</a:t>
            </a:r>
            <a:r>
              <a:rPr lang="it-IT" sz="2400" dirty="0"/>
              <a:t> </a:t>
            </a:r>
            <a:r>
              <a:rPr sz="2400" dirty="0"/>
              <a:t>(Pag. 282)</a:t>
            </a:r>
            <a:r>
              <a:rPr lang="it-IT" sz="2400" dirty="0"/>
              <a:t>:</a:t>
            </a:r>
            <a:r>
              <a:rPr sz="2400" dirty="0"/>
              <a:t> </a:t>
            </a:r>
            <a:r>
              <a:rPr sz="2400" dirty="0" err="1"/>
              <a:t>Pianifica</a:t>
            </a:r>
            <a:r>
              <a:rPr sz="2400" dirty="0"/>
              <a:t> </a:t>
            </a:r>
            <a:r>
              <a:rPr sz="2400" dirty="0" err="1"/>
              <a:t>l’azione</a:t>
            </a:r>
            <a:r>
              <a:rPr sz="2400" dirty="0"/>
              <a:t> prima di </a:t>
            </a:r>
            <a:r>
              <a:rPr sz="2400" dirty="0" err="1"/>
              <a:t>eseguirla</a:t>
            </a:r>
            <a:r>
              <a:rPr sz="2400" dirty="0"/>
              <a:t>.</a:t>
            </a:r>
          </a:p>
        </p:txBody>
      </p:sp>
      <p:pic>
        <p:nvPicPr>
          <p:cNvPr id="6" name="Picture 3" descr="Diagramma_Verticale_Agente.png">
            <a:extLst>
              <a:ext uri="{FF2B5EF4-FFF2-40B4-BE49-F238E27FC236}">
                <a16:creationId xmlns:a16="http://schemas.microsoft.com/office/drawing/2014/main" id="{46A1EBFF-1C2B-B9CC-1982-4B6935C4F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56987"/>
            <a:ext cx="4749964" cy="61440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4554" y="274638"/>
            <a:ext cx="3092245" cy="1143000"/>
          </a:xfrm>
        </p:spPr>
        <p:txBody>
          <a:bodyPr/>
          <a:lstStyle/>
          <a:p>
            <a:pPr>
              <a:defRPr sz="2600"/>
            </a:pPr>
            <a:r>
              <a:rPr dirty="0"/>
              <a:t>Ciclo Vita: Step 3 Action &amp;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0" y="1645920"/>
            <a:ext cx="3931920" cy="4843370"/>
          </a:xfrm>
        </p:spPr>
        <p:txBody>
          <a:bodyPr wrap="square">
            <a:normAutofit/>
          </a:bodyPr>
          <a:lstStyle/>
          <a:p>
            <a:pPr>
              <a:defRPr sz="1400"/>
            </a:pPr>
            <a:r>
              <a:rPr sz="2400" dirty="0" err="1"/>
              <a:t>Esecuzione</a:t>
            </a:r>
            <a:r>
              <a:rPr sz="2400" dirty="0"/>
              <a:t> </a:t>
            </a:r>
            <a:r>
              <a:rPr sz="2400" dirty="0" err="1"/>
              <a:t>nel</a:t>
            </a:r>
            <a:r>
              <a:rPr sz="2400" dirty="0"/>
              <a:t> mondo </a:t>
            </a:r>
            <a:r>
              <a:rPr sz="2400" dirty="0" err="1"/>
              <a:t>esterno</a:t>
            </a:r>
            <a:r>
              <a:rPr sz="2400" dirty="0"/>
              <a:t>.</a:t>
            </a:r>
            <a:br>
              <a:rPr sz="2400" dirty="0"/>
            </a:br>
            <a:br>
              <a:rPr sz="2400" dirty="0"/>
            </a:br>
            <a:r>
              <a:rPr sz="2400" dirty="0"/>
              <a:t>1. Search: Trova link di </a:t>
            </a:r>
            <a:r>
              <a:rPr sz="2400" dirty="0" err="1"/>
              <a:t>aziende</a:t>
            </a:r>
            <a:r>
              <a:rPr sz="2400" dirty="0"/>
              <a:t> (</a:t>
            </a:r>
            <a:r>
              <a:rPr sz="2400" dirty="0" err="1"/>
              <a:t>Axitea</a:t>
            </a:r>
            <a:r>
              <a:rPr sz="2400" dirty="0"/>
              <a:t>, </a:t>
            </a:r>
            <a:r>
              <a:rPr sz="2400" dirty="0" err="1"/>
              <a:t>Cyberlys</a:t>
            </a:r>
            <a:r>
              <a:rPr sz="2400" dirty="0"/>
              <a:t>).</a:t>
            </a:r>
            <a:br>
              <a:rPr sz="2400" dirty="0"/>
            </a:br>
            <a:r>
              <a:rPr sz="2400" dirty="0"/>
              <a:t>2. Scrape: </a:t>
            </a:r>
            <a:r>
              <a:rPr sz="2400" dirty="0" err="1"/>
              <a:t>Verifica</a:t>
            </a:r>
            <a:r>
              <a:rPr sz="2400" dirty="0"/>
              <a:t> se </a:t>
            </a:r>
            <a:r>
              <a:rPr sz="2400" dirty="0" err="1"/>
              <a:t>l’azienda</a:t>
            </a:r>
            <a:r>
              <a:rPr sz="2400" dirty="0"/>
              <a:t> X è </a:t>
            </a:r>
            <a:r>
              <a:rPr sz="2400" dirty="0" err="1"/>
              <a:t>realmente</a:t>
            </a:r>
            <a:r>
              <a:rPr sz="2400" dirty="0"/>
              <a:t> a Milano.</a:t>
            </a:r>
            <a:br>
              <a:rPr sz="2400" dirty="0"/>
            </a:br>
            <a:r>
              <a:rPr sz="2400" dirty="0"/>
              <a:t>3. Observation: I </a:t>
            </a:r>
            <a:r>
              <a:rPr sz="2400" dirty="0" err="1"/>
              <a:t>dati</a:t>
            </a:r>
            <a:r>
              <a:rPr sz="2400" dirty="0"/>
              <a:t> </a:t>
            </a:r>
            <a:r>
              <a:rPr sz="2400" dirty="0" err="1"/>
              <a:t>tornano</a:t>
            </a:r>
            <a:r>
              <a:rPr sz="2400" dirty="0"/>
              <a:t> </a:t>
            </a:r>
            <a:r>
              <a:rPr sz="2400" dirty="0" err="1"/>
              <a:t>all’Analyzer</a:t>
            </a:r>
            <a:r>
              <a:rPr sz="2400" dirty="0"/>
              <a:t> come </a:t>
            </a:r>
            <a:r>
              <a:rPr sz="2400" dirty="0" err="1"/>
              <a:t>SystemMessage</a:t>
            </a:r>
            <a:r>
              <a:rPr sz="2400" dirty="0"/>
              <a:t>.</a:t>
            </a:r>
          </a:p>
        </p:txBody>
      </p:sp>
      <p:pic>
        <p:nvPicPr>
          <p:cNvPr id="5" name="Picture 3" descr="Diagramma_Verticale_Agente.png">
            <a:extLst>
              <a:ext uri="{FF2B5EF4-FFF2-40B4-BE49-F238E27FC236}">
                <a16:creationId xmlns:a16="http://schemas.microsoft.com/office/drawing/2014/main" id="{848721BF-8A1F-8EA0-E139-F1A91F248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56987"/>
            <a:ext cx="4749964" cy="61440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9522" y="274638"/>
            <a:ext cx="2797277" cy="1143000"/>
          </a:xfrm>
        </p:spPr>
        <p:txBody>
          <a:bodyPr/>
          <a:lstStyle/>
          <a:p>
            <a:pPr>
              <a:defRPr sz="2600"/>
            </a:pPr>
            <a:r>
              <a:rPr dirty="0"/>
              <a:t>Ciclo Vita: Step 4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0" y="1645919"/>
            <a:ext cx="3931920" cy="4499241"/>
          </a:xfrm>
        </p:spPr>
        <p:txBody>
          <a:bodyPr wrap="square">
            <a:normAutofit/>
          </a:bodyPr>
          <a:lstStyle/>
          <a:p>
            <a:pPr>
              <a:defRPr sz="1400"/>
            </a:pPr>
            <a:r>
              <a:rPr sz="2400" dirty="0" err="1"/>
              <a:t>Valutazione</a:t>
            </a:r>
            <a:r>
              <a:rPr sz="2400" dirty="0"/>
              <a:t> finale </a:t>
            </a:r>
            <a:r>
              <a:rPr sz="2400" dirty="0" err="1"/>
              <a:t>dei</a:t>
            </a:r>
            <a:r>
              <a:rPr sz="2400" dirty="0"/>
              <a:t> </a:t>
            </a:r>
            <a:r>
              <a:rPr sz="2400" dirty="0" err="1"/>
              <a:t>dati</a:t>
            </a:r>
            <a:r>
              <a:rPr sz="2400" dirty="0"/>
              <a:t>.</a:t>
            </a:r>
            <a:br>
              <a:rPr sz="2400" dirty="0"/>
            </a:br>
            <a:br>
              <a:rPr sz="2400" dirty="0"/>
            </a:br>
            <a:r>
              <a:rPr sz="2400" dirty="0"/>
              <a:t>1. Reflection</a:t>
            </a:r>
            <a:r>
              <a:rPr lang="it-IT" sz="2400" dirty="0"/>
              <a:t> </a:t>
            </a:r>
            <a:r>
              <a:rPr sz="2400" dirty="0"/>
              <a:t>(Pag. 293)</a:t>
            </a:r>
            <a:r>
              <a:rPr lang="it-IT" sz="2400" dirty="0"/>
              <a:t>:</a:t>
            </a:r>
            <a:r>
              <a:rPr sz="2400" dirty="0"/>
              <a:t> "Ho </a:t>
            </a:r>
            <a:r>
              <a:rPr sz="2400" dirty="0" err="1"/>
              <a:t>trovato</a:t>
            </a:r>
            <a:r>
              <a:rPr sz="2400" dirty="0"/>
              <a:t> </a:t>
            </a:r>
            <a:r>
              <a:rPr sz="2400" dirty="0" err="1"/>
              <a:t>dati</a:t>
            </a:r>
            <a:r>
              <a:rPr sz="2400" dirty="0"/>
              <a:t> </a:t>
            </a:r>
            <a:r>
              <a:rPr sz="2400" dirty="0" err="1"/>
              <a:t>coerenti</a:t>
            </a:r>
            <a:r>
              <a:rPr sz="2400" dirty="0"/>
              <a:t>? </a:t>
            </a:r>
            <a:r>
              <a:rPr sz="2400" dirty="0" err="1"/>
              <a:t>Sì</a:t>
            </a:r>
            <a:r>
              <a:rPr sz="2400" dirty="0"/>
              <a:t>".</a:t>
            </a:r>
            <a:br>
              <a:rPr sz="2400" dirty="0"/>
            </a:br>
            <a:r>
              <a:rPr sz="2400" dirty="0"/>
              <a:t>2. Response: Formula il </a:t>
            </a:r>
            <a:r>
              <a:rPr sz="2400" dirty="0" err="1"/>
              <a:t>consiglio</a:t>
            </a:r>
            <a:r>
              <a:rPr sz="2400" dirty="0"/>
              <a:t> finale: "Ecco le </a:t>
            </a:r>
            <a:r>
              <a:rPr sz="2400" dirty="0" err="1"/>
              <a:t>aziende</a:t>
            </a:r>
            <a:r>
              <a:rPr sz="2400" dirty="0"/>
              <a:t> </a:t>
            </a:r>
            <a:r>
              <a:rPr sz="2400" dirty="0" err="1"/>
              <a:t>vicino</a:t>
            </a:r>
            <a:r>
              <a:rPr sz="2400" dirty="0"/>
              <a:t> a </a:t>
            </a:r>
            <a:r>
              <a:rPr sz="2400" dirty="0" err="1"/>
              <a:t>te</a:t>
            </a:r>
            <a:r>
              <a:rPr sz="2400" dirty="0"/>
              <a:t>...".</a:t>
            </a:r>
            <a:br>
              <a:rPr sz="2400" dirty="0"/>
            </a:br>
            <a:r>
              <a:rPr sz="2400" dirty="0"/>
              <a:t>3. Fine: </a:t>
            </a:r>
            <a:r>
              <a:rPr sz="2400" dirty="0" err="1"/>
              <a:t>L’agente</a:t>
            </a:r>
            <a:r>
              <a:rPr sz="2400" dirty="0"/>
              <a:t> </a:t>
            </a:r>
            <a:r>
              <a:rPr sz="2400" dirty="0" err="1"/>
              <a:t>attende</a:t>
            </a:r>
            <a:r>
              <a:rPr sz="2400" dirty="0"/>
              <a:t> il </a:t>
            </a:r>
            <a:r>
              <a:rPr sz="2400" dirty="0" err="1"/>
              <a:t>prossimo</a:t>
            </a:r>
            <a:r>
              <a:rPr sz="2400" dirty="0"/>
              <a:t> </a:t>
            </a:r>
            <a:r>
              <a:rPr sz="2400" dirty="0" err="1"/>
              <a:t>messaggio</a:t>
            </a:r>
            <a:r>
              <a:rPr sz="2400" dirty="0"/>
              <a:t> di Marco.</a:t>
            </a:r>
          </a:p>
        </p:txBody>
      </p:sp>
      <p:pic>
        <p:nvPicPr>
          <p:cNvPr id="5" name="Picture 3" descr="Diagramma_Verticale_Agente.png">
            <a:extLst>
              <a:ext uri="{FF2B5EF4-FFF2-40B4-BE49-F238E27FC236}">
                <a16:creationId xmlns:a16="http://schemas.microsoft.com/office/drawing/2014/main" id="{2439ECCB-F9A7-043D-D288-12D61F330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56987"/>
            <a:ext cx="4749964" cy="61440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Problemi</a:t>
            </a:r>
            <a:r>
              <a:rPr dirty="0"/>
              <a:t>: Loop Infiniti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endParaRPr dirty="0"/>
          </a:p>
          <a:p>
            <a:pPr>
              <a:spcAft>
                <a:spcPts val="1000"/>
              </a:spcAft>
              <a:defRPr sz="1600"/>
            </a:pPr>
            <a:r>
              <a:rPr sz="3000" dirty="0" err="1"/>
              <a:t>Errore</a:t>
            </a:r>
            <a:r>
              <a:rPr sz="3000" dirty="0"/>
              <a:t>: RecursionLimit </a:t>
            </a:r>
            <a:r>
              <a:rPr sz="3000" dirty="0" err="1"/>
              <a:t>raggiunto</a:t>
            </a:r>
            <a:r>
              <a:rPr sz="3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/>
              <a:t>Causa: </a:t>
            </a:r>
            <a:r>
              <a:rPr sz="3000" dirty="0" err="1"/>
              <a:t>L’agente</a:t>
            </a:r>
            <a:r>
              <a:rPr sz="3000" dirty="0"/>
              <a:t> </a:t>
            </a:r>
            <a:r>
              <a:rPr sz="3000" dirty="0" err="1"/>
              <a:t>cercava</a:t>
            </a:r>
            <a:r>
              <a:rPr sz="3000" dirty="0"/>
              <a:t> </a:t>
            </a:r>
            <a:r>
              <a:rPr sz="3000" dirty="0" err="1"/>
              <a:t>ossessivamente</a:t>
            </a:r>
            <a:r>
              <a:rPr sz="3000" dirty="0"/>
              <a:t> </a:t>
            </a:r>
            <a:r>
              <a:rPr sz="3000" dirty="0" err="1"/>
              <a:t>nuovi</a:t>
            </a:r>
            <a:r>
              <a:rPr sz="3000" dirty="0"/>
              <a:t> </a:t>
            </a:r>
            <a:r>
              <a:rPr sz="3000" dirty="0" err="1"/>
              <a:t>dati</a:t>
            </a:r>
            <a:r>
              <a:rPr sz="3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 err="1"/>
              <a:t>Soluzione</a:t>
            </a:r>
            <a:r>
              <a:rPr sz="3000" dirty="0"/>
              <a:t>: Tag </a:t>
            </a:r>
            <a:r>
              <a:rPr sz="3000" dirty="0" err="1"/>
              <a:t>espliciti</a:t>
            </a:r>
            <a:r>
              <a:rPr sz="3000" dirty="0"/>
              <a:t> (AZIONE:) e </a:t>
            </a:r>
            <a:r>
              <a:rPr sz="3000" dirty="0" err="1"/>
              <a:t>limite</a:t>
            </a:r>
            <a:r>
              <a:rPr sz="3000" dirty="0"/>
              <a:t> di </a:t>
            </a:r>
            <a:r>
              <a:rPr sz="3000" dirty="0" err="1"/>
              <a:t>passi</a:t>
            </a:r>
            <a:r>
              <a:rPr sz="3000" dirty="0"/>
              <a:t> </a:t>
            </a:r>
            <a:r>
              <a:rPr sz="3000" dirty="0" err="1"/>
              <a:t>nel</a:t>
            </a:r>
            <a:r>
              <a:rPr sz="3000" dirty="0"/>
              <a:t> </a:t>
            </a:r>
            <a:r>
              <a:rPr sz="3000" dirty="0" err="1"/>
              <a:t>grafo</a:t>
            </a:r>
            <a:r>
              <a:rPr sz="3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/>
              <a:t>Engineering: </a:t>
            </a:r>
            <a:r>
              <a:rPr sz="3000" dirty="0" err="1"/>
              <a:t>Condizione</a:t>
            </a:r>
            <a:r>
              <a:rPr sz="3000" dirty="0"/>
              <a:t> di </a:t>
            </a:r>
            <a:r>
              <a:rPr sz="3000" dirty="0" err="1"/>
              <a:t>uscita</a:t>
            </a:r>
            <a:r>
              <a:rPr sz="3000" dirty="0"/>
              <a:t> </a:t>
            </a:r>
            <a:r>
              <a:rPr sz="3000" dirty="0" err="1"/>
              <a:t>nel</a:t>
            </a:r>
            <a:r>
              <a:rPr sz="3000" dirty="0"/>
              <a:t> router </a:t>
            </a:r>
            <a:r>
              <a:rPr sz="3000" dirty="0" err="1"/>
              <a:t>logico</a:t>
            </a:r>
            <a:r>
              <a:rPr sz="3000" dirty="0"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Problema</a:t>
            </a:r>
            <a:r>
              <a:rPr dirty="0"/>
              <a:t>: Reset Memoria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endParaRPr dirty="0"/>
          </a:p>
          <a:p>
            <a:pPr>
              <a:spcAft>
                <a:spcPts val="1000"/>
              </a:spcAft>
              <a:defRPr sz="1600"/>
            </a:pPr>
            <a:r>
              <a:rPr sz="3000" dirty="0" err="1"/>
              <a:t>Errore</a:t>
            </a:r>
            <a:r>
              <a:rPr sz="3000" dirty="0"/>
              <a:t>: </a:t>
            </a:r>
            <a:r>
              <a:rPr sz="3000" dirty="0" err="1"/>
              <a:t>L’agente</a:t>
            </a:r>
            <a:r>
              <a:rPr sz="3000" dirty="0"/>
              <a:t> </a:t>
            </a:r>
            <a:r>
              <a:rPr sz="3000" dirty="0" err="1"/>
              <a:t>dimenticava</a:t>
            </a:r>
            <a:r>
              <a:rPr sz="3000" dirty="0"/>
              <a:t> le info al secondo </a:t>
            </a:r>
            <a:r>
              <a:rPr sz="3000" dirty="0" err="1"/>
              <a:t>messaggio</a:t>
            </a:r>
            <a:r>
              <a:rPr sz="3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/>
              <a:t>Causa: Assenza di </a:t>
            </a:r>
            <a:r>
              <a:rPr sz="3000" dirty="0" err="1"/>
              <a:t>persistenza</a:t>
            </a:r>
            <a:r>
              <a:rPr sz="3000" dirty="0"/>
              <a:t> </a:t>
            </a:r>
            <a:r>
              <a:rPr sz="3000" dirty="0" err="1"/>
              <a:t>nel</a:t>
            </a:r>
            <a:r>
              <a:rPr sz="3000" dirty="0"/>
              <a:t> server </a:t>
            </a:r>
            <a:r>
              <a:rPr sz="3000" dirty="0" err="1"/>
              <a:t>FastAPI</a:t>
            </a:r>
            <a:r>
              <a:rPr sz="3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 err="1"/>
              <a:t>Soluzione</a:t>
            </a:r>
            <a:r>
              <a:rPr sz="3000" dirty="0"/>
              <a:t>: </a:t>
            </a:r>
            <a:r>
              <a:rPr sz="3000" dirty="0" err="1"/>
              <a:t>Profilo</a:t>
            </a:r>
            <a:r>
              <a:rPr sz="3000" dirty="0"/>
              <a:t> </a:t>
            </a:r>
            <a:r>
              <a:rPr sz="3000" dirty="0" err="1"/>
              <a:t>inviato</a:t>
            </a:r>
            <a:r>
              <a:rPr sz="3000" dirty="0"/>
              <a:t> </a:t>
            </a:r>
            <a:r>
              <a:rPr sz="3000" dirty="0" err="1"/>
              <a:t>bidirezionalmente</a:t>
            </a:r>
            <a:r>
              <a:rPr sz="3000" dirty="0"/>
              <a:t> </a:t>
            </a:r>
            <a:r>
              <a:rPr sz="3000" dirty="0" err="1"/>
              <a:t>tra</a:t>
            </a:r>
            <a:r>
              <a:rPr sz="3000" dirty="0"/>
              <a:t> UI e Backend.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/>
              <a:t>Engineering: Stato stateless ma </a:t>
            </a:r>
            <a:r>
              <a:rPr sz="3000" dirty="0" err="1"/>
              <a:t>persistente</a:t>
            </a:r>
            <a:r>
              <a:rPr sz="3000" dirty="0"/>
              <a:t> lato client.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Conclusioni</a:t>
            </a:r>
            <a:r>
              <a:rPr dirty="0"/>
              <a:t> per </a:t>
            </a:r>
            <a:r>
              <a:rPr dirty="0" err="1"/>
              <a:t>l’AI</a:t>
            </a:r>
            <a:r>
              <a:rPr dirty="0"/>
              <a:t> Engineer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/>
          </a:bodyPr>
          <a:lstStyle/>
          <a:p>
            <a:endParaRPr dirty="0"/>
          </a:p>
          <a:p>
            <a:pPr>
              <a:spcAft>
                <a:spcPts val="1000"/>
              </a:spcAft>
              <a:defRPr sz="1600"/>
            </a:pPr>
            <a:r>
              <a:rPr sz="3000" dirty="0"/>
              <a:t>1. </a:t>
            </a:r>
            <a:r>
              <a:rPr sz="3000" dirty="0" err="1"/>
              <a:t>L’intelligenza</a:t>
            </a:r>
            <a:r>
              <a:rPr sz="3000" dirty="0"/>
              <a:t> (LLM) è solo un modulo del software.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/>
              <a:t>2. </a:t>
            </a:r>
            <a:r>
              <a:rPr sz="3000" dirty="0" err="1"/>
              <a:t>L’ingegneria</a:t>
            </a:r>
            <a:r>
              <a:rPr sz="3000" dirty="0"/>
              <a:t> serve a </a:t>
            </a:r>
            <a:r>
              <a:rPr sz="3000" dirty="0" err="1"/>
              <a:t>rendere</a:t>
            </a:r>
            <a:r>
              <a:rPr sz="3000" dirty="0"/>
              <a:t> </a:t>
            </a:r>
            <a:r>
              <a:rPr sz="3000" dirty="0" err="1"/>
              <a:t>l’output</a:t>
            </a:r>
            <a:r>
              <a:rPr sz="3000" dirty="0"/>
              <a:t> </a:t>
            </a:r>
            <a:r>
              <a:rPr sz="3000" dirty="0" err="1"/>
              <a:t>prevedibile</a:t>
            </a:r>
            <a:r>
              <a:rPr sz="3000" dirty="0"/>
              <a:t> e </a:t>
            </a:r>
            <a:r>
              <a:rPr sz="3000" dirty="0" err="1"/>
              <a:t>sicuro</a:t>
            </a:r>
            <a:r>
              <a:rPr sz="3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/>
              <a:t>3. Il feedback loop è </a:t>
            </a:r>
            <a:r>
              <a:rPr sz="3000" dirty="0" err="1"/>
              <a:t>ciò</a:t>
            </a:r>
            <a:r>
              <a:rPr sz="3000" dirty="0"/>
              <a:t> </a:t>
            </a:r>
            <a:r>
              <a:rPr sz="3000" dirty="0" err="1"/>
              <a:t>che</a:t>
            </a:r>
            <a:r>
              <a:rPr sz="3000" dirty="0"/>
              <a:t> </a:t>
            </a:r>
            <a:r>
              <a:rPr sz="3000" dirty="0" err="1"/>
              <a:t>rende</a:t>
            </a:r>
            <a:r>
              <a:rPr sz="3000" dirty="0"/>
              <a:t> un </a:t>
            </a:r>
            <a:r>
              <a:rPr sz="3000" dirty="0" err="1"/>
              <a:t>sistema</a:t>
            </a:r>
            <a:r>
              <a:rPr sz="3000" dirty="0"/>
              <a:t> </a:t>
            </a:r>
            <a:r>
              <a:rPr sz="3000" dirty="0" err="1"/>
              <a:t>agentico</a:t>
            </a:r>
            <a:r>
              <a:rPr sz="3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3000" dirty="0"/>
              <a:t>"Un </a:t>
            </a:r>
            <a:r>
              <a:rPr sz="3000" dirty="0" err="1"/>
              <a:t>agente</a:t>
            </a:r>
            <a:r>
              <a:rPr sz="3000" dirty="0"/>
              <a:t> è </a:t>
            </a:r>
            <a:r>
              <a:rPr sz="3000" dirty="0" err="1"/>
              <a:t>definito</a:t>
            </a:r>
            <a:r>
              <a:rPr sz="3000" dirty="0"/>
              <a:t> dal </a:t>
            </a:r>
            <a:r>
              <a:rPr sz="3000" dirty="0" err="1"/>
              <a:t>suo</a:t>
            </a:r>
            <a:r>
              <a:rPr sz="3000" dirty="0"/>
              <a:t> </a:t>
            </a:r>
            <a:r>
              <a:rPr sz="3000" dirty="0" err="1"/>
              <a:t>ambiente</a:t>
            </a:r>
            <a:r>
              <a:rPr sz="3000" dirty="0"/>
              <a:t> e </a:t>
            </a:r>
            <a:r>
              <a:rPr sz="3000" dirty="0" err="1"/>
              <a:t>dai</a:t>
            </a:r>
            <a:r>
              <a:rPr sz="3000" dirty="0"/>
              <a:t> </a:t>
            </a:r>
            <a:r>
              <a:rPr sz="3000" dirty="0" err="1"/>
              <a:t>suoi</a:t>
            </a:r>
            <a:r>
              <a:rPr sz="3000" dirty="0"/>
              <a:t> </a:t>
            </a:r>
            <a:r>
              <a:rPr sz="3000" dirty="0" err="1"/>
              <a:t>strumenti</a:t>
            </a:r>
            <a:r>
              <a:rPr sz="3000" dirty="0"/>
              <a:t>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943</Words>
  <Application>Microsoft Office PowerPoint</Application>
  <PresentationFormat>Presentazione su schermo (4:3)</PresentationFormat>
  <Paragraphs>98</Paragraphs>
  <Slides>21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Un agente AI per l’orientamento post diploma</vt:lpstr>
      <vt:lpstr>Il Problema: Limiti dei Chatbot</vt:lpstr>
      <vt:lpstr>Il Problema: Limiti del RAG Statico</vt:lpstr>
      <vt:lpstr>Scelte Progettuali: Architettura</vt:lpstr>
      <vt:lpstr>Scelte Progettuali: Affidabilità</vt:lpstr>
      <vt:lpstr>1. Frontend: Streamlit (UX)</vt:lpstr>
      <vt:lpstr>2. Backend:  FastAPI</vt:lpstr>
      <vt:lpstr>3a. Core:  LangGraph (Logic)</vt:lpstr>
      <vt:lpstr>3a. Core:  LangGraph (Logic)</vt:lpstr>
      <vt:lpstr>3b. Memoria: state.py</vt:lpstr>
      <vt:lpstr>3c. Estrazione: parser.py</vt:lpstr>
      <vt:lpstr>4. Risorse:  Groq &amp; Tool</vt:lpstr>
      <vt:lpstr>4a. Tool:  Web Search (search.py)</vt:lpstr>
      <vt:lpstr>4b. Tool:  Scraper (scraper.py)</vt:lpstr>
      <vt:lpstr>Ciclo Vita: Step 1 Percezione</vt:lpstr>
      <vt:lpstr>Ciclo Vita: Step 2 Planning</vt:lpstr>
      <vt:lpstr>Ciclo Vita: Step 3 Action &amp; Tool</vt:lpstr>
      <vt:lpstr>Ciclo Vita: Step 4 Reflection</vt:lpstr>
      <vt:lpstr>Problemi: Loop Infiniti</vt:lpstr>
      <vt:lpstr>Problema: Reset Memoria</vt:lpstr>
      <vt:lpstr>Conclusioni per l’AI Engineer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TITZE WALTER</cp:lastModifiedBy>
  <cp:revision>4</cp:revision>
  <dcterms:created xsi:type="dcterms:W3CDTF">2013-01-27T09:14:16Z</dcterms:created>
  <dcterms:modified xsi:type="dcterms:W3CDTF">2026-01-06T08:35:59Z</dcterms:modified>
  <cp:category/>
</cp:coreProperties>
</file>